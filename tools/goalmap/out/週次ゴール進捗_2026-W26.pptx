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71600"/>
          </a:xfrm>
          <a:prstGeom prst="rect">
            <a:avLst/>
          </a:prstGeom>
          <a:solidFill>
            <a:srgbClr val="6357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週次ゴール進捗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2026-W26 ／ 2026-06-26 ／ 対象 7名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83080"/>
            <a:ext cx="2743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67707A"/>
                </a:solidFill>
                <a:latin typeface="Hiragino Sans"/>
                <a:ea typeface="Hiragino Sans"/>
                <a:cs typeface="Hiragino Sans"/>
              </a:rPr>
              <a:t>メンバー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91840" y="1783080"/>
            <a:ext cx="32918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67707A"/>
                </a:solidFill>
                <a:latin typeface="Hiragino Sans"/>
                <a:ea typeface="Hiragino Sans"/>
                <a:cs typeface="Hiragino Sans"/>
              </a:rPr>
              <a:t>テーマ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0" y="1783080"/>
            <a:ext cx="1828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67707A"/>
                </a:solidFill>
                <a:latin typeface="Hiragino Sans"/>
                <a:ea typeface="Hiragino Sans"/>
                <a:cs typeface="Hiragino Sans"/>
              </a:rPr>
              <a:t>現在ステージ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1783080"/>
            <a:ext cx="3108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67707A"/>
                </a:solidFill>
                <a:latin typeface="Hiragino Sans"/>
                <a:ea typeface="Hiragino Sans"/>
                <a:cs typeface="Hiragino Sans"/>
              </a:rPr>
              <a:t>達成率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194560"/>
            <a:ext cx="2743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F2933"/>
                </a:solidFill>
                <a:latin typeface="Hiragino Sans"/>
                <a:ea typeface="Hiragino Sans"/>
                <a:cs typeface="Hiragino Sans"/>
              </a:rPr>
              <a:t>三浦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91840" y="2194560"/>
            <a:ext cx="32918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1F2933"/>
                </a:solidFill>
                <a:latin typeface="Hiragino Sans"/>
                <a:ea typeface="Hiragino Sans"/>
                <a:cs typeface="Hiragino Sans"/>
              </a:rPr>
              <a:t>契約を安定させる（クローザー）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0" y="2194560"/>
            <a:ext cx="1828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EF9F27"/>
                </a:solidFill>
                <a:latin typeface="Hiragino Sans"/>
                <a:ea typeface="Hiragino Sans"/>
                <a:cs typeface="Hiragino Sans"/>
              </a:rPr>
              <a:t>①型を知る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98480" y="2176272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1D9E75"/>
                </a:solidFill>
                <a:latin typeface="Hiragino Sans"/>
                <a:ea typeface="Hiragino Sans"/>
                <a:cs typeface="Hiragino Sans"/>
              </a:rPr>
              <a:t>0%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503920" y="2304288"/>
            <a:ext cx="2103120" cy="146304"/>
          </a:xfrm>
          <a:prstGeom prst="roundRect">
            <a:avLst/>
          </a:prstGeom>
          <a:solidFill>
            <a:srgbClr val="F2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2761488"/>
            <a:ext cx="2743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F2933"/>
                </a:solidFill>
                <a:latin typeface="Hiragino Sans"/>
                <a:ea typeface="Hiragino Sans"/>
                <a:cs typeface="Hiragino Sans"/>
              </a:rPr>
              <a:t>今川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91840" y="2761488"/>
            <a:ext cx="32918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1F2933"/>
                </a:solidFill>
                <a:latin typeface="Hiragino Sans"/>
                <a:ea typeface="Hiragino Sans"/>
                <a:cs typeface="Hiragino Sans"/>
              </a:rPr>
              <a:t>チームの成約を仕組み化する（マネジメント）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0" y="2761488"/>
            <a:ext cx="1828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EF9F27"/>
                </a:solidFill>
                <a:latin typeface="Hiragino Sans"/>
                <a:ea typeface="Hiragino Sans"/>
                <a:cs typeface="Hiragino Sans"/>
              </a:rPr>
              <a:t>①型を知る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98480" y="274320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1D9E75"/>
                </a:solidFill>
                <a:latin typeface="Hiragino Sans"/>
                <a:ea typeface="Hiragino Sans"/>
                <a:cs typeface="Hiragino Sans"/>
              </a:rPr>
              <a:t>0%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03920" y="2871216"/>
            <a:ext cx="2103120" cy="146304"/>
          </a:xfrm>
          <a:prstGeom prst="roundRect">
            <a:avLst/>
          </a:prstGeom>
          <a:solidFill>
            <a:srgbClr val="F2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3328416"/>
            <a:ext cx="2743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F2933"/>
                </a:solidFill>
                <a:latin typeface="Hiragino Sans"/>
                <a:ea typeface="Hiragino Sans"/>
                <a:cs typeface="Hiragino Sans"/>
              </a:rPr>
              <a:t>宮腰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91840" y="3328416"/>
            <a:ext cx="32918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1F2933"/>
                </a:solidFill>
                <a:latin typeface="Hiragino Sans"/>
                <a:ea typeface="Hiragino Sans"/>
                <a:cs typeface="Hiragino Sans"/>
              </a:rPr>
              <a:t>契約を安定させる（クローザー）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0" y="3328416"/>
            <a:ext cx="1828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EF9F27"/>
                </a:solidFill>
                <a:latin typeface="Hiragino Sans"/>
                <a:ea typeface="Hiragino Sans"/>
                <a:cs typeface="Hiragino Sans"/>
              </a:rPr>
              <a:t>②練習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98480" y="3310128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1D9E75"/>
                </a:solidFill>
                <a:latin typeface="Hiragino Sans"/>
                <a:ea typeface="Hiragino Sans"/>
                <a:cs typeface="Hiragino Sans"/>
              </a:rPr>
              <a:t>20%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503920" y="3438144"/>
            <a:ext cx="2103120" cy="146304"/>
          </a:xfrm>
          <a:prstGeom prst="roundRect">
            <a:avLst/>
          </a:prstGeom>
          <a:solidFill>
            <a:srgbClr val="F2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503920" y="3438144"/>
            <a:ext cx="420624" cy="146304"/>
          </a:xfrm>
          <a:prstGeom prst="roundRect">
            <a:avLst/>
          </a:prstGeom>
          <a:solidFill>
            <a:srgbClr val="1D9E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48640" y="3895344"/>
            <a:ext cx="2743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F2933"/>
                </a:solidFill>
                <a:latin typeface="Hiragino Sans"/>
                <a:ea typeface="Hiragino Sans"/>
                <a:cs typeface="Hiragino Sans"/>
              </a:rPr>
              <a:t>岡野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291840" y="3895344"/>
            <a:ext cx="32918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1F2933"/>
                </a:solidFill>
                <a:latin typeface="Hiragino Sans"/>
                <a:ea typeface="Hiragino Sans"/>
                <a:cs typeface="Hiragino Sans"/>
              </a:rPr>
              <a:t>契約を安定させる（クローザー）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83680" y="3895344"/>
            <a:ext cx="1828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EF9F27"/>
                </a:solidFill>
                <a:latin typeface="Hiragino Sans"/>
                <a:ea typeface="Hiragino Sans"/>
                <a:cs typeface="Hiragino Sans"/>
              </a:rPr>
              <a:t>②練習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698480" y="3877056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1D9E75"/>
                </a:solidFill>
                <a:latin typeface="Hiragino Sans"/>
                <a:ea typeface="Hiragino Sans"/>
                <a:cs typeface="Hiragino Sans"/>
              </a:rPr>
              <a:t>13%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503920" y="4005072"/>
            <a:ext cx="2103120" cy="146304"/>
          </a:xfrm>
          <a:prstGeom prst="roundRect">
            <a:avLst/>
          </a:prstGeom>
          <a:solidFill>
            <a:srgbClr val="F2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8503920" y="4005072"/>
            <a:ext cx="273405" cy="146304"/>
          </a:xfrm>
          <a:prstGeom prst="roundRect">
            <a:avLst/>
          </a:prstGeom>
          <a:solidFill>
            <a:srgbClr val="1D9E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48640" y="4462272"/>
            <a:ext cx="2743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F2933"/>
                </a:solidFill>
                <a:latin typeface="Hiragino Sans"/>
                <a:ea typeface="Hiragino Sans"/>
                <a:cs typeface="Hiragino Sans"/>
              </a:rPr>
              <a:t>戸田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91840" y="4462272"/>
            <a:ext cx="32918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1F2933"/>
                </a:solidFill>
                <a:latin typeface="Hiragino Sans"/>
                <a:ea typeface="Hiragino Sans"/>
                <a:cs typeface="Hiragino Sans"/>
              </a:rPr>
              <a:t>契約を安定させる（クローザー）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83680" y="4462272"/>
            <a:ext cx="1828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EF9F27"/>
                </a:solidFill>
                <a:latin typeface="Hiragino Sans"/>
                <a:ea typeface="Hiragino Sans"/>
                <a:cs typeface="Hiragino Sans"/>
              </a:rPr>
              <a:t>①型を知る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698480" y="4443984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1D9E75"/>
                </a:solidFill>
                <a:latin typeface="Hiragino Sans"/>
                <a:ea typeface="Hiragino Sans"/>
                <a:cs typeface="Hiragino Sans"/>
              </a:rPr>
              <a:t>0%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503920" y="4572000"/>
            <a:ext cx="2103120" cy="146304"/>
          </a:xfrm>
          <a:prstGeom prst="roundRect">
            <a:avLst/>
          </a:prstGeom>
          <a:solidFill>
            <a:srgbClr val="F2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48640" y="5029200"/>
            <a:ext cx="2743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F2933"/>
                </a:solidFill>
                <a:latin typeface="Hiragino Sans"/>
                <a:ea typeface="Hiragino Sans"/>
                <a:cs typeface="Hiragino Sans"/>
              </a:rPr>
              <a:t>藤江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291840" y="5029200"/>
            <a:ext cx="32918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1F2933"/>
                </a:solidFill>
                <a:latin typeface="Hiragino Sans"/>
                <a:ea typeface="Hiragino Sans"/>
                <a:cs typeface="Hiragino Sans"/>
              </a:rPr>
              <a:t>契約を安定させる（クローザー）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583680" y="5029200"/>
            <a:ext cx="1828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EF9F27"/>
                </a:solidFill>
                <a:latin typeface="Hiragino Sans"/>
                <a:ea typeface="Hiragino Sans"/>
                <a:cs typeface="Hiragino Sans"/>
              </a:rPr>
              <a:t>①型を知る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698480" y="5010912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1D9E75"/>
                </a:solidFill>
                <a:latin typeface="Hiragino Sans"/>
                <a:ea typeface="Hiragino Sans"/>
                <a:cs typeface="Hiragino Sans"/>
              </a:rPr>
              <a:t>0%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503920" y="5138928"/>
            <a:ext cx="2103120" cy="146304"/>
          </a:xfrm>
          <a:prstGeom prst="roundRect">
            <a:avLst/>
          </a:prstGeom>
          <a:solidFill>
            <a:srgbClr val="F2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48640" y="5596128"/>
            <a:ext cx="2743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F2933"/>
                </a:solidFill>
                <a:latin typeface="Hiragino Sans"/>
                <a:ea typeface="Hiragino Sans"/>
                <a:cs typeface="Hiragino Sans"/>
              </a:rPr>
              <a:t>門田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291840" y="5596128"/>
            <a:ext cx="32918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1F2933"/>
                </a:solidFill>
                <a:latin typeface="Hiragino Sans"/>
                <a:ea typeface="Hiragino Sans"/>
                <a:cs typeface="Hiragino Sans"/>
              </a:rPr>
              <a:t>契約を安定させる（クローザー）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583680" y="5596128"/>
            <a:ext cx="1828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EF9F27"/>
                </a:solidFill>
                <a:latin typeface="Hiragino Sans"/>
                <a:ea typeface="Hiragino Sans"/>
                <a:cs typeface="Hiragino Sans"/>
              </a:rPr>
              <a:t>①型を知る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698480" y="557784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1D9E75"/>
                </a:solidFill>
                <a:latin typeface="Hiragino Sans"/>
                <a:ea typeface="Hiragino Sans"/>
                <a:cs typeface="Hiragino Sans"/>
              </a:rPr>
              <a:t>0%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8503920" y="5705856"/>
            <a:ext cx="2103120" cy="146304"/>
          </a:xfrm>
          <a:prstGeom prst="roundRect">
            <a:avLst/>
          </a:prstGeom>
          <a:solidFill>
            <a:srgbClr val="F2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1F2933"/>
                </a:solidFill>
                <a:latin typeface="Hiragino Sans"/>
                <a:ea typeface="Hiragino Sans"/>
                <a:cs typeface="Hiragino Sans"/>
              </a:rPr>
              <a:t>三浦（ピタサチ・営業）｜契約を安定させる（クローザー）</a:t>
            </a:r>
          </a:p>
        </p:txBody>
      </p:sp>
      <p:pic>
        <p:nvPicPr>
          <p:cNvPr id="3" name="Picture 2" descr="tmpjgg6osz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60120"/>
            <a:ext cx="6277708" cy="57607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138160" y="1005840"/>
            <a:ext cx="3566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67707A"/>
                </a:solidFill>
                <a:latin typeface="Hiragino Sans"/>
                <a:ea typeface="Hiragino Sans"/>
                <a:cs typeface="Hiragino Sans"/>
              </a:rPr>
              <a:t>達成率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38160" y="1234440"/>
            <a:ext cx="35661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>
                <a:solidFill>
                  <a:srgbClr val="1D9E75"/>
                </a:solidFill>
                <a:latin typeface="Hiragino Sans"/>
                <a:ea typeface="Hiragino Sans"/>
                <a:cs typeface="Hiragino Sans"/>
              </a:rPr>
              <a:t>0%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138160" y="1920240"/>
            <a:ext cx="3566160" cy="146304"/>
          </a:xfrm>
          <a:prstGeom prst="roundRect">
            <a:avLst/>
          </a:prstGeom>
          <a:solidFill>
            <a:srgbClr val="F2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0" y="2286000"/>
            <a:ext cx="3566160" cy="4023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6357CC"/>
                </a:solidFill>
                <a:latin typeface="Hiragino Sans"/>
                <a:ea typeface="Hiragino Sans"/>
                <a:cs typeface="Hiragino Sans"/>
              </a:rPr>
              <a:t>ゴール</a:t>
            </a:r>
          </a:p>
          <a:p>
            <a:pPr algn="l"/>
            <a:r>
              <a:rPr sz="1300" b="0">
                <a:solidFill>
                  <a:srgbClr val="1F2933"/>
                </a:solidFill>
                <a:latin typeface="Hiragino Sans"/>
                <a:ea typeface="Hiragino Sans"/>
                <a:cs typeface="Hiragino Sans"/>
              </a:rPr>
              <a:t>客層を問わず自分の型で契約まで運び、成約が安定する</a:t>
            </a:r>
          </a:p>
          <a:p>
            <a:pPr algn="l"/>
            <a:r>
              <a:rPr sz="1200" b="1">
                <a:solidFill>
                  <a:srgbClr val="EF9F27"/>
                </a:solidFill>
                <a:latin typeface="Hiragino Sans"/>
                <a:ea typeface="Hiragino Sans"/>
                <a:cs typeface="Hiragino Sans"/>
              </a:rPr>
              <a:t>今週のフォーカス</a:t>
            </a:r>
          </a:p>
          <a:p>
            <a:pPr algn="l"/>
            <a:r>
              <a:rPr sz="1300" b="0">
                <a:solidFill>
                  <a:srgbClr val="1F2933"/>
                </a:solidFill>
                <a:latin typeface="Hiragino Sans"/>
                <a:ea typeface="Hiragino Sans"/>
                <a:cs typeface="Hiragino Sans"/>
              </a:rPr>
              <a:t>まずは現状の勝ち負けを言語化する（①型を知る）</a:t>
            </a:r>
          </a:p>
          <a:p>
            <a:pPr algn="l"/>
            <a:r>
              <a:rPr sz="1200" b="1">
                <a:solidFill>
                  <a:srgbClr val="67707A"/>
                </a:solidFill>
                <a:latin typeface="Hiragino Sans"/>
                <a:ea typeface="Hiragino Sans"/>
                <a:cs typeface="Hiragino Sans"/>
              </a:rPr>
              <a:t>ネクストアクション</a:t>
            </a:r>
          </a:p>
          <a:p>
            <a:pPr algn="l"/>
            <a:r>
              <a:rPr sz="1300" b="0">
                <a:solidFill>
                  <a:srgbClr val="1F2933"/>
                </a:solidFill>
                <a:latin typeface="Hiragino Sans"/>
                <a:ea typeface="Hiragino Sans"/>
                <a:cs typeface="Hiragino Sans"/>
              </a:rPr>
              <a:t>②練習へ：苦手ケースの切り返しをロープレ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1F2933"/>
                </a:solidFill>
                <a:latin typeface="Hiragino Sans"/>
                <a:ea typeface="Hiragino Sans"/>
                <a:cs typeface="Hiragino Sans"/>
              </a:rPr>
              <a:t>今川（E.L.P・営業部長）｜チームの成約を仕組み化する（マネジメント）</a:t>
            </a:r>
          </a:p>
        </p:txBody>
      </p:sp>
      <p:pic>
        <p:nvPicPr>
          <p:cNvPr id="3" name="Picture 2" descr="tmpb3yyjjb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60120"/>
            <a:ext cx="6277708" cy="57607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138160" y="1005840"/>
            <a:ext cx="3566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67707A"/>
                </a:solidFill>
                <a:latin typeface="Hiragino Sans"/>
                <a:ea typeface="Hiragino Sans"/>
                <a:cs typeface="Hiragino Sans"/>
              </a:rPr>
              <a:t>達成率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38160" y="1234440"/>
            <a:ext cx="35661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>
                <a:solidFill>
                  <a:srgbClr val="1D9E75"/>
                </a:solidFill>
                <a:latin typeface="Hiragino Sans"/>
                <a:ea typeface="Hiragino Sans"/>
                <a:cs typeface="Hiragino Sans"/>
              </a:rPr>
              <a:t>0%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138160" y="1920240"/>
            <a:ext cx="3566160" cy="146304"/>
          </a:xfrm>
          <a:prstGeom prst="roundRect">
            <a:avLst/>
          </a:prstGeom>
          <a:solidFill>
            <a:srgbClr val="F2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0" y="2286000"/>
            <a:ext cx="3566160" cy="4023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6357CC"/>
                </a:solidFill>
                <a:latin typeface="Hiragino Sans"/>
                <a:ea typeface="Hiragino Sans"/>
                <a:cs typeface="Hiragino Sans"/>
              </a:rPr>
              <a:t>ゴール</a:t>
            </a:r>
          </a:p>
          <a:p>
            <a:pPr algn="l"/>
            <a:r>
              <a:rPr sz="1300" b="0">
                <a:solidFill>
                  <a:srgbClr val="1F2933"/>
                </a:solidFill>
                <a:latin typeface="Hiragino Sans"/>
                <a:ea typeface="Hiragino Sans"/>
                <a:cs typeface="Hiragino Sans"/>
              </a:rPr>
              <a:t>各メンバーの型を引き出し、チーム全体の成約率を底上げできている</a:t>
            </a:r>
          </a:p>
          <a:p>
            <a:pPr algn="l"/>
            <a:r>
              <a:rPr sz="1200" b="1">
                <a:solidFill>
                  <a:srgbClr val="EF9F27"/>
                </a:solidFill>
                <a:latin typeface="Hiragino Sans"/>
                <a:ea typeface="Hiragino Sans"/>
                <a:cs typeface="Hiragino Sans"/>
              </a:rPr>
              <a:t>今週のフォーカス</a:t>
            </a:r>
          </a:p>
          <a:p>
            <a:pPr algn="l"/>
            <a:r>
              <a:rPr sz="1300" b="0">
                <a:solidFill>
                  <a:srgbClr val="1F2933"/>
                </a:solidFill>
                <a:latin typeface="Hiragino Sans"/>
                <a:ea typeface="Hiragino Sans"/>
                <a:cs typeface="Hiragino Sans"/>
              </a:rPr>
              <a:t>まずは各メンバーの勝ち負けと現在地を把握する（①型を知る）</a:t>
            </a:r>
          </a:p>
          <a:p>
            <a:pPr algn="l"/>
            <a:r>
              <a:rPr sz="1200" b="1">
                <a:solidFill>
                  <a:srgbClr val="67707A"/>
                </a:solidFill>
                <a:latin typeface="Hiragino Sans"/>
                <a:ea typeface="Hiragino Sans"/>
                <a:cs typeface="Hiragino Sans"/>
              </a:rPr>
              <a:t>ネクストアクション</a:t>
            </a:r>
          </a:p>
          <a:p>
            <a:pPr algn="l"/>
            <a:r>
              <a:rPr sz="1300" b="0">
                <a:solidFill>
                  <a:srgbClr val="1F2933"/>
                </a:solidFill>
                <a:latin typeface="Hiragino Sans"/>
                <a:ea typeface="Hiragino Sans"/>
                <a:cs typeface="Hiragino Sans"/>
              </a:rPr>
              <a:t>②練習へ：1on1の問いかけ設計を用意する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1F2933"/>
                </a:solidFill>
                <a:latin typeface="Hiragino Sans"/>
                <a:ea typeface="Hiragino Sans"/>
                <a:cs typeface="Hiragino Sans"/>
              </a:rPr>
              <a:t>宮腰（wanny・戸田指導）｜契約を安定させる（クローザー）</a:t>
            </a:r>
          </a:p>
        </p:txBody>
      </p:sp>
      <p:pic>
        <p:nvPicPr>
          <p:cNvPr id="3" name="Picture 2" descr="tmpe0nu5_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60120"/>
            <a:ext cx="6277708" cy="57607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138160" y="1005840"/>
            <a:ext cx="3566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67707A"/>
                </a:solidFill>
                <a:latin typeface="Hiragino Sans"/>
                <a:ea typeface="Hiragino Sans"/>
                <a:cs typeface="Hiragino Sans"/>
              </a:rPr>
              <a:t>達成率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38160" y="1234440"/>
            <a:ext cx="35661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>
                <a:solidFill>
                  <a:srgbClr val="1D9E75"/>
                </a:solidFill>
                <a:latin typeface="Hiragino Sans"/>
                <a:ea typeface="Hiragino Sans"/>
                <a:cs typeface="Hiragino Sans"/>
              </a:rPr>
              <a:t>20%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138160" y="1920240"/>
            <a:ext cx="3566160" cy="146304"/>
          </a:xfrm>
          <a:prstGeom prst="roundRect">
            <a:avLst/>
          </a:prstGeom>
          <a:solidFill>
            <a:srgbClr val="F2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1920240"/>
            <a:ext cx="713232" cy="146304"/>
          </a:xfrm>
          <a:prstGeom prst="roundRect">
            <a:avLst/>
          </a:prstGeom>
          <a:solidFill>
            <a:srgbClr val="1D9E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38160" y="2286000"/>
            <a:ext cx="3566160" cy="4023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6357CC"/>
                </a:solidFill>
                <a:latin typeface="Hiragino Sans"/>
                <a:ea typeface="Hiragino Sans"/>
                <a:cs typeface="Hiragino Sans"/>
              </a:rPr>
              <a:t>ゴール</a:t>
            </a:r>
          </a:p>
          <a:p>
            <a:pPr algn="l"/>
            <a:r>
              <a:rPr sz="1300" b="0">
                <a:solidFill>
                  <a:srgbClr val="1F2933"/>
                </a:solidFill>
                <a:latin typeface="Hiragino Sans"/>
                <a:ea typeface="Hiragino Sans"/>
                <a:cs typeface="Hiragino Sans"/>
              </a:rPr>
              <a:t>客層を問わず自分の型で契約まで運び、成約が安定する</a:t>
            </a:r>
          </a:p>
          <a:p>
            <a:pPr algn="l"/>
            <a:r>
              <a:rPr sz="1200" b="1">
                <a:solidFill>
                  <a:srgbClr val="EF9F27"/>
                </a:solidFill>
                <a:latin typeface="Hiragino Sans"/>
                <a:ea typeface="Hiragino Sans"/>
                <a:cs typeface="Hiragino Sans"/>
              </a:rPr>
              <a:t>今週のフォーカス</a:t>
            </a:r>
          </a:p>
          <a:p>
            <a:pPr algn="l"/>
            <a:r>
              <a:rPr sz="1300" b="0">
                <a:solidFill>
                  <a:srgbClr val="1F2933"/>
                </a:solidFill>
                <a:latin typeface="Hiragino Sans"/>
                <a:ea typeface="Hiragino Sans"/>
                <a:cs typeface="Hiragino Sans"/>
              </a:rPr>
              <a:t>苦手ケースの切り返しをロープレで固める（②練習・進行中）</a:t>
            </a:r>
          </a:p>
          <a:p>
            <a:pPr algn="l"/>
            <a:r>
              <a:rPr sz="1200" b="1">
                <a:solidFill>
                  <a:srgbClr val="67707A"/>
                </a:solidFill>
                <a:latin typeface="Hiragino Sans"/>
                <a:ea typeface="Hiragino Sans"/>
                <a:cs typeface="Hiragino Sans"/>
              </a:rPr>
              <a:t>ネクストアクション</a:t>
            </a:r>
          </a:p>
          <a:p>
            <a:pPr algn="l"/>
            <a:r>
              <a:rPr sz="1300" b="0">
                <a:solidFill>
                  <a:srgbClr val="1F2933"/>
                </a:solidFill>
                <a:latin typeface="Hiragino Sans"/>
                <a:ea typeface="Hiragino Sans"/>
                <a:cs typeface="Hiragino Sans"/>
              </a:rPr>
              <a:t>③実践へ：商談前に型の要点を確認する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1F2933"/>
                </a:solidFill>
                <a:latin typeface="Hiragino Sans"/>
                <a:ea typeface="Hiragino Sans"/>
                <a:cs typeface="Hiragino Sans"/>
              </a:rPr>
              <a:t>岡野（wanny）｜契約を安定させる（クローザー）</a:t>
            </a:r>
          </a:p>
        </p:txBody>
      </p:sp>
      <p:pic>
        <p:nvPicPr>
          <p:cNvPr id="3" name="Picture 2" descr="tmpvrqqke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60120"/>
            <a:ext cx="5486400" cy="57607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138160" y="1005840"/>
            <a:ext cx="3566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67707A"/>
                </a:solidFill>
                <a:latin typeface="Hiragino Sans"/>
                <a:ea typeface="Hiragino Sans"/>
                <a:cs typeface="Hiragino Sans"/>
              </a:rPr>
              <a:t>達成率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38160" y="1234440"/>
            <a:ext cx="35661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>
                <a:solidFill>
                  <a:srgbClr val="1D9E75"/>
                </a:solidFill>
                <a:latin typeface="Hiragino Sans"/>
                <a:ea typeface="Hiragino Sans"/>
                <a:cs typeface="Hiragino Sans"/>
              </a:rPr>
              <a:t>13%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138160" y="1920240"/>
            <a:ext cx="3566160" cy="146304"/>
          </a:xfrm>
          <a:prstGeom prst="roundRect">
            <a:avLst/>
          </a:prstGeom>
          <a:solidFill>
            <a:srgbClr val="F2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1920240"/>
            <a:ext cx="463600" cy="146304"/>
          </a:xfrm>
          <a:prstGeom prst="roundRect">
            <a:avLst/>
          </a:prstGeom>
          <a:solidFill>
            <a:srgbClr val="1D9E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38160" y="2286000"/>
            <a:ext cx="3566160" cy="4023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6357CC"/>
                </a:solidFill>
                <a:latin typeface="Hiragino Sans"/>
                <a:ea typeface="Hiragino Sans"/>
                <a:cs typeface="Hiragino Sans"/>
              </a:rPr>
              <a:t>ゴール</a:t>
            </a:r>
          </a:p>
          <a:p>
            <a:pPr algn="l"/>
            <a:r>
              <a:rPr sz="1300" b="0">
                <a:solidFill>
                  <a:srgbClr val="1F2933"/>
                </a:solidFill>
                <a:latin typeface="Hiragino Sans"/>
                <a:ea typeface="Hiragino Sans"/>
                <a:cs typeface="Hiragino Sans"/>
              </a:rPr>
              <a:t>客層を問わず自分の型で契約まで運び、成約が安定する</a:t>
            </a:r>
          </a:p>
          <a:p>
            <a:pPr algn="l"/>
            <a:r>
              <a:rPr sz="1200" b="1">
                <a:solidFill>
                  <a:srgbClr val="EF9F27"/>
                </a:solidFill>
                <a:latin typeface="Hiragino Sans"/>
                <a:ea typeface="Hiragino Sans"/>
                <a:cs typeface="Hiragino Sans"/>
              </a:rPr>
              <a:t>今週のフォーカス</a:t>
            </a:r>
          </a:p>
          <a:p>
            <a:pPr algn="l"/>
            <a:r>
              <a:rPr sz="1300" b="0">
                <a:solidFill>
                  <a:srgbClr val="1F2933"/>
                </a:solidFill>
                <a:latin typeface="Hiragino Sans"/>
                <a:ea typeface="Hiragino Sans"/>
                <a:cs typeface="Hiragino Sans"/>
              </a:rPr>
              <a:t>苦手ケースの切り返しをロープレで固める（②練習・進行中）</a:t>
            </a:r>
          </a:p>
          <a:p>
            <a:pPr algn="l"/>
            <a:r>
              <a:rPr sz="1200" b="1">
                <a:solidFill>
                  <a:srgbClr val="67707A"/>
                </a:solidFill>
                <a:latin typeface="Hiragino Sans"/>
                <a:ea typeface="Hiragino Sans"/>
                <a:cs typeface="Hiragino Sans"/>
              </a:rPr>
              <a:t>ネクストアクション</a:t>
            </a:r>
          </a:p>
          <a:p>
            <a:pPr algn="l"/>
            <a:r>
              <a:rPr sz="1300" b="0">
                <a:solidFill>
                  <a:srgbClr val="1F2933"/>
                </a:solidFill>
                <a:latin typeface="Hiragino Sans"/>
                <a:ea typeface="Hiragino Sans"/>
                <a:cs typeface="Hiragino Sans"/>
              </a:rPr>
              <a:t>③実践へ：商談前に型の要点を確認する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1F2933"/>
                </a:solidFill>
                <a:latin typeface="Hiragino Sans"/>
                <a:ea typeface="Hiragino Sans"/>
                <a:cs typeface="Hiragino Sans"/>
              </a:rPr>
              <a:t>戸田（wanny・宮腰指導）｜契約を安定させる（クローザー）</a:t>
            </a:r>
          </a:p>
        </p:txBody>
      </p:sp>
      <p:pic>
        <p:nvPicPr>
          <p:cNvPr id="3" name="Picture 2" descr="tmp8nn9yunq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60120"/>
            <a:ext cx="6277708" cy="57607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138160" y="1005840"/>
            <a:ext cx="3566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67707A"/>
                </a:solidFill>
                <a:latin typeface="Hiragino Sans"/>
                <a:ea typeface="Hiragino Sans"/>
                <a:cs typeface="Hiragino Sans"/>
              </a:rPr>
              <a:t>達成率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38160" y="1234440"/>
            <a:ext cx="35661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>
                <a:solidFill>
                  <a:srgbClr val="1D9E75"/>
                </a:solidFill>
                <a:latin typeface="Hiragino Sans"/>
                <a:ea typeface="Hiragino Sans"/>
                <a:cs typeface="Hiragino Sans"/>
              </a:rPr>
              <a:t>0%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138160" y="1920240"/>
            <a:ext cx="3566160" cy="146304"/>
          </a:xfrm>
          <a:prstGeom prst="roundRect">
            <a:avLst/>
          </a:prstGeom>
          <a:solidFill>
            <a:srgbClr val="F2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0" y="2286000"/>
            <a:ext cx="3566160" cy="4023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6357CC"/>
                </a:solidFill>
                <a:latin typeface="Hiragino Sans"/>
                <a:ea typeface="Hiragino Sans"/>
                <a:cs typeface="Hiragino Sans"/>
              </a:rPr>
              <a:t>ゴール</a:t>
            </a:r>
          </a:p>
          <a:p>
            <a:pPr algn="l"/>
            <a:r>
              <a:rPr sz="1300" b="0">
                <a:solidFill>
                  <a:srgbClr val="1F2933"/>
                </a:solidFill>
                <a:latin typeface="Hiragino Sans"/>
                <a:ea typeface="Hiragino Sans"/>
                <a:cs typeface="Hiragino Sans"/>
              </a:rPr>
              <a:t>客層を問わず自分の型で契約まで運び、成約が安定する</a:t>
            </a:r>
          </a:p>
          <a:p>
            <a:pPr algn="l"/>
            <a:r>
              <a:rPr sz="1200" b="1">
                <a:solidFill>
                  <a:srgbClr val="EF9F27"/>
                </a:solidFill>
                <a:latin typeface="Hiragino Sans"/>
                <a:ea typeface="Hiragino Sans"/>
                <a:cs typeface="Hiragino Sans"/>
              </a:rPr>
              <a:t>今週のフォーカス</a:t>
            </a:r>
          </a:p>
          <a:p>
            <a:pPr algn="l"/>
            <a:r>
              <a:rPr sz="1300" b="0">
                <a:solidFill>
                  <a:srgbClr val="1F2933"/>
                </a:solidFill>
                <a:latin typeface="Hiragino Sans"/>
                <a:ea typeface="Hiragino Sans"/>
                <a:cs typeface="Hiragino Sans"/>
              </a:rPr>
              <a:t>まずは現状の勝ち負けを言語化する（①型を知る）</a:t>
            </a:r>
          </a:p>
          <a:p>
            <a:pPr algn="l"/>
            <a:r>
              <a:rPr sz="1200" b="1">
                <a:solidFill>
                  <a:srgbClr val="67707A"/>
                </a:solidFill>
                <a:latin typeface="Hiragino Sans"/>
                <a:ea typeface="Hiragino Sans"/>
                <a:cs typeface="Hiragino Sans"/>
              </a:rPr>
              <a:t>ネクストアクション</a:t>
            </a:r>
          </a:p>
          <a:p>
            <a:pPr algn="l"/>
            <a:r>
              <a:rPr sz="1300" b="0">
                <a:solidFill>
                  <a:srgbClr val="1F2933"/>
                </a:solidFill>
                <a:latin typeface="Hiragino Sans"/>
                <a:ea typeface="Hiragino Sans"/>
                <a:cs typeface="Hiragino Sans"/>
              </a:rPr>
              <a:t>②練習へ：苦手ケースの切り返しをロープレ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1F2933"/>
                </a:solidFill>
                <a:latin typeface="Hiragino Sans"/>
                <a:ea typeface="Hiragino Sans"/>
                <a:cs typeface="Hiragino Sans"/>
              </a:rPr>
              <a:t>藤江（ピタサチ・営業）｜契約を安定させる（クローザー）</a:t>
            </a:r>
          </a:p>
        </p:txBody>
      </p:sp>
      <p:pic>
        <p:nvPicPr>
          <p:cNvPr id="3" name="Picture 2" descr="tmpwu0ocym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60120"/>
            <a:ext cx="6277708" cy="57607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138160" y="1005840"/>
            <a:ext cx="3566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67707A"/>
                </a:solidFill>
                <a:latin typeface="Hiragino Sans"/>
                <a:ea typeface="Hiragino Sans"/>
                <a:cs typeface="Hiragino Sans"/>
              </a:rPr>
              <a:t>達成率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38160" y="1234440"/>
            <a:ext cx="35661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>
                <a:solidFill>
                  <a:srgbClr val="1D9E75"/>
                </a:solidFill>
                <a:latin typeface="Hiragino Sans"/>
                <a:ea typeface="Hiragino Sans"/>
                <a:cs typeface="Hiragino Sans"/>
              </a:rPr>
              <a:t>0%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138160" y="1920240"/>
            <a:ext cx="3566160" cy="146304"/>
          </a:xfrm>
          <a:prstGeom prst="roundRect">
            <a:avLst/>
          </a:prstGeom>
          <a:solidFill>
            <a:srgbClr val="F2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0" y="2286000"/>
            <a:ext cx="3566160" cy="4023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6357CC"/>
                </a:solidFill>
                <a:latin typeface="Hiragino Sans"/>
                <a:ea typeface="Hiragino Sans"/>
                <a:cs typeface="Hiragino Sans"/>
              </a:rPr>
              <a:t>ゴール</a:t>
            </a:r>
          </a:p>
          <a:p>
            <a:pPr algn="l"/>
            <a:r>
              <a:rPr sz="1300" b="0">
                <a:solidFill>
                  <a:srgbClr val="1F2933"/>
                </a:solidFill>
                <a:latin typeface="Hiragino Sans"/>
                <a:ea typeface="Hiragino Sans"/>
                <a:cs typeface="Hiragino Sans"/>
              </a:rPr>
              <a:t>客層を問わず自分の型で契約まで運び、成約が安定する</a:t>
            </a:r>
          </a:p>
          <a:p>
            <a:pPr algn="l"/>
            <a:r>
              <a:rPr sz="1200" b="1">
                <a:solidFill>
                  <a:srgbClr val="EF9F27"/>
                </a:solidFill>
                <a:latin typeface="Hiragino Sans"/>
                <a:ea typeface="Hiragino Sans"/>
                <a:cs typeface="Hiragino Sans"/>
              </a:rPr>
              <a:t>今週のフォーカス</a:t>
            </a:r>
          </a:p>
          <a:p>
            <a:pPr algn="l"/>
            <a:r>
              <a:rPr sz="1300" b="0">
                <a:solidFill>
                  <a:srgbClr val="1F2933"/>
                </a:solidFill>
                <a:latin typeface="Hiragino Sans"/>
                <a:ea typeface="Hiragino Sans"/>
                <a:cs typeface="Hiragino Sans"/>
              </a:rPr>
              <a:t>まずは現状の勝ち負けを言語化する（①型を知る）</a:t>
            </a:r>
          </a:p>
          <a:p>
            <a:pPr algn="l"/>
            <a:r>
              <a:rPr sz="1200" b="1">
                <a:solidFill>
                  <a:srgbClr val="67707A"/>
                </a:solidFill>
                <a:latin typeface="Hiragino Sans"/>
                <a:ea typeface="Hiragino Sans"/>
                <a:cs typeface="Hiragino Sans"/>
              </a:rPr>
              <a:t>ネクストアクション</a:t>
            </a:r>
          </a:p>
          <a:p>
            <a:pPr algn="l"/>
            <a:r>
              <a:rPr sz="1300" b="0">
                <a:solidFill>
                  <a:srgbClr val="1F2933"/>
                </a:solidFill>
                <a:latin typeface="Hiragino Sans"/>
                <a:ea typeface="Hiragino Sans"/>
                <a:cs typeface="Hiragino Sans"/>
              </a:rPr>
              <a:t>②練習へ：苦手ケースの切り返しをロープレ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1F2933"/>
                </a:solidFill>
                <a:latin typeface="Hiragino Sans"/>
                <a:ea typeface="Hiragino Sans"/>
                <a:cs typeface="Hiragino Sans"/>
              </a:rPr>
              <a:t>門田（ピタサチ・役員兼営業）｜契約を安定させる（クローザー）</a:t>
            </a:r>
          </a:p>
        </p:txBody>
      </p:sp>
      <p:pic>
        <p:nvPicPr>
          <p:cNvPr id="3" name="Picture 2" descr="tmpxwdzr_3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60120"/>
            <a:ext cx="5777713" cy="57607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138160" y="1005840"/>
            <a:ext cx="3566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67707A"/>
                </a:solidFill>
                <a:latin typeface="Hiragino Sans"/>
                <a:ea typeface="Hiragino Sans"/>
                <a:cs typeface="Hiragino Sans"/>
              </a:rPr>
              <a:t>達成率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38160" y="1234440"/>
            <a:ext cx="35661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>
                <a:solidFill>
                  <a:srgbClr val="1D9E75"/>
                </a:solidFill>
                <a:latin typeface="Hiragino Sans"/>
                <a:ea typeface="Hiragino Sans"/>
                <a:cs typeface="Hiragino Sans"/>
              </a:rPr>
              <a:t>0%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138160" y="1920240"/>
            <a:ext cx="3566160" cy="146304"/>
          </a:xfrm>
          <a:prstGeom prst="roundRect">
            <a:avLst/>
          </a:prstGeom>
          <a:solidFill>
            <a:srgbClr val="F2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0" y="2286000"/>
            <a:ext cx="3566160" cy="4023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6357CC"/>
                </a:solidFill>
                <a:latin typeface="Hiragino Sans"/>
                <a:ea typeface="Hiragino Sans"/>
                <a:cs typeface="Hiragino Sans"/>
              </a:rPr>
              <a:t>ゴール</a:t>
            </a:r>
          </a:p>
          <a:p>
            <a:pPr algn="l"/>
            <a:r>
              <a:rPr sz="1300" b="0">
                <a:solidFill>
                  <a:srgbClr val="1F2933"/>
                </a:solidFill>
                <a:latin typeface="Hiragino Sans"/>
                <a:ea typeface="Hiragino Sans"/>
                <a:cs typeface="Hiragino Sans"/>
              </a:rPr>
              <a:t>客層を問わず自分の型で契約まで運び、成約が安定する</a:t>
            </a:r>
          </a:p>
          <a:p>
            <a:pPr algn="l"/>
            <a:r>
              <a:rPr sz="1200" b="1">
                <a:solidFill>
                  <a:srgbClr val="EF9F27"/>
                </a:solidFill>
                <a:latin typeface="Hiragino Sans"/>
                <a:ea typeface="Hiragino Sans"/>
                <a:cs typeface="Hiragino Sans"/>
              </a:rPr>
              <a:t>今週のフォーカス</a:t>
            </a:r>
          </a:p>
          <a:p>
            <a:pPr algn="l"/>
            <a:r>
              <a:rPr sz="1300" b="0">
                <a:solidFill>
                  <a:srgbClr val="1F2933"/>
                </a:solidFill>
                <a:latin typeface="Hiragino Sans"/>
                <a:ea typeface="Hiragino Sans"/>
                <a:cs typeface="Hiragino Sans"/>
              </a:rPr>
              <a:t>まずは現状の勝ち負けを言語化する（①型を知る）</a:t>
            </a:r>
          </a:p>
          <a:p>
            <a:pPr algn="l"/>
            <a:r>
              <a:rPr sz="1200" b="1">
                <a:solidFill>
                  <a:srgbClr val="67707A"/>
                </a:solidFill>
                <a:latin typeface="Hiragino Sans"/>
                <a:ea typeface="Hiragino Sans"/>
                <a:cs typeface="Hiragino Sans"/>
              </a:rPr>
              <a:t>ネクストアクション</a:t>
            </a:r>
          </a:p>
          <a:p>
            <a:pPr algn="l"/>
            <a:r>
              <a:rPr sz="1300" b="0">
                <a:solidFill>
                  <a:srgbClr val="1F2933"/>
                </a:solidFill>
                <a:latin typeface="Hiragino Sans"/>
                <a:ea typeface="Hiragino Sans"/>
                <a:cs typeface="Hiragino Sans"/>
              </a:rPr>
              <a:t>②練習へ：苦手ケースの切り返しをロープレ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