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6357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週次ゴール進捗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Hiragino Sans"/>
                <a:ea typeface="Hiragino Sans"/>
                <a:cs typeface="Hiragino Sans"/>
              </a:rPr>
              <a:t>2026-W26 ／ 2026-06-24 ／ 対象 2名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メンバー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783080"/>
            <a:ext cx="32918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テーマ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現在ステージ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783080"/>
            <a:ext cx="3108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94560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194560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2176272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03920" y="2304288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503920" y="2304288"/>
            <a:ext cx="420624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761488"/>
            <a:ext cx="2743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2761488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契約を安定させる（クローザー）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7614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②練習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98480" y="2743200"/>
            <a:ext cx="914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42%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03920" y="2871216"/>
            <a:ext cx="210312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03920" y="2871216"/>
            <a:ext cx="883310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宮腰（wanny・戸田指導）｜契約を安定させる（クローザー）</a:t>
            </a:r>
          </a:p>
        </p:txBody>
      </p:sp>
      <p:pic>
        <p:nvPicPr>
          <p:cNvPr id="3" name="Picture 2" descr="tmpd82mt7e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6277708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20%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713232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今週中に苦手パターン3つの切り返しを用意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岡野（wanny）｜契約を安定させる（クローザー）</a:t>
            </a:r>
          </a:p>
        </p:txBody>
      </p:sp>
      <p:pic>
        <p:nvPicPr>
          <p:cNvPr id="3" name="Picture 2" descr="tmpduck3zo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5935287" cy="57607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138160" y="1005840"/>
            <a:ext cx="35661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達成率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8160" y="123444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1D9E75"/>
                </a:solidFill>
                <a:latin typeface="Hiragino Sans"/>
                <a:ea typeface="Hiragino Sans"/>
                <a:cs typeface="Hiragino Sans"/>
              </a:rPr>
              <a:t>42%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138160" y="1920240"/>
            <a:ext cx="3566160" cy="146304"/>
          </a:xfrm>
          <a:prstGeom prst="roundRect">
            <a:avLst/>
          </a:prstGeom>
          <a:solidFill>
            <a:srgbClr val="F2F4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38160" y="1920240"/>
            <a:ext cx="1497787" cy="146304"/>
          </a:xfrm>
          <a:prstGeom prst="roundRect">
            <a:avLst/>
          </a:prstGeom>
          <a:solidFill>
            <a:srgbClr val="1D9E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2286000"/>
            <a:ext cx="356616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6357CC"/>
                </a:solidFill>
                <a:latin typeface="Hiragino Sans"/>
                <a:ea typeface="Hiragino Sans"/>
                <a:cs typeface="Hiragino Sans"/>
              </a:rPr>
              <a:t>ゴール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客層を問わず自分の型で契約まで運び、成約が安定する</a:t>
            </a:r>
          </a:p>
          <a:p>
            <a:pPr algn="l"/>
            <a:r>
              <a:rPr sz="1200" b="1">
                <a:solidFill>
                  <a:srgbClr val="EF9F27"/>
                </a:solidFill>
                <a:latin typeface="Hiragino Sans"/>
                <a:ea typeface="Hiragino Sans"/>
                <a:cs typeface="Hiragino Sans"/>
              </a:rPr>
              <a:t>今週のフォーカス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苦手ケースの切り返しをロープレで固める</a:t>
            </a:r>
          </a:p>
          <a:p>
            <a:pPr algn="l"/>
            <a:r>
              <a:rPr sz="1200" b="1">
                <a:solidFill>
                  <a:srgbClr val="67707A"/>
                </a:solidFill>
                <a:latin typeface="Hiragino Sans"/>
                <a:ea typeface="Hiragino Sans"/>
                <a:cs typeface="Hiragino Sans"/>
              </a:rPr>
              <a:t>ネクストアクション</a:t>
            </a:r>
          </a:p>
          <a:p>
            <a:pPr algn="l"/>
            <a:r>
              <a:rPr sz="1300" b="0">
                <a:solidFill>
                  <a:srgbClr val="1F2933"/>
                </a:solidFill>
                <a:latin typeface="Hiragino Sans"/>
                <a:ea typeface="Hiragino Sans"/>
                <a:cs typeface="Hiragino Sans"/>
              </a:rPr>
              <a:t>今週中に苦手パターン3つの切り返しを用意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